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6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68" r:id="rId13"/>
    <p:sldId id="270" r:id="rId14"/>
    <p:sldId id="271" r:id="rId15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Poppins Medium" panose="00000600000000000000" pitchFamily="2" charset="0"/>
      <p:regular r:id="rId21"/>
      <p: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67"/>
    <p:restoredTop sz="97013"/>
  </p:normalViewPr>
  <p:slideViewPr>
    <p:cSldViewPr snapToGrid="0">
      <p:cViewPr varScale="1">
        <p:scale>
          <a:sx n="146" d="100"/>
          <a:sy n="146" d="100"/>
        </p:scale>
        <p:origin x="108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e7f0216e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2e7f0216e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e7f0216e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2e7f0216e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3411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e7f0216e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2e7f0216e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7482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e7f0216e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2e7f0216e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135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e7f0216e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2e7f0216e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3500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e7f0216e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2e7f0216e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420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e7f0216e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2e7f0216e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63161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e7f0216e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2e7f0216e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8964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e7f0216e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2e7f0216e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8017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e7f0216e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2e7f0216e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90939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e7f0216e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2e7f0216e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4114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e7f0216e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2e7f0216e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3065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e7f0216e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2e7f0216e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76556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e7f0216e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2e7f0216e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8892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Content">
  <p:cSld name="Title and Content_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454450" y="211900"/>
            <a:ext cx="59871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subTitle" idx="1"/>
          </p:nvPr>
        </p:nvSpPr>
        <p:spPr>
          <a:xfrm>
            <a:off x="454450" y="4727675"/>
            <a:ext cx="43290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23"/>
          <p:cNvSpPr txBox="1"/>
          <p:nvPr/>
        </p:nvSpPr>
        <p:spPr>
          <a:xfrm>
            <a:off x="6249625" y="3393200"/>
            <a:ext cx="541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3"/>
          <p:cNvSpPr txBox="1">
            <a:spLocks noGrp="1"/>
          </p:cNvSpPr>
          <p:nvPr>
            <p:ph type="body" idx="2"/>
          </p:nvPr>
        </p:nvSpPr>
        <p:spPr>
          <a:xfrm>
            <a:off x="454450" y="1391575"/>
            <a:ext cx="3881400" cy="31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83" name="Google Shape;183;p23"/>
          <p:cNvSpPr txBox="1">
            <a:spLocks noGrp="1"/>
          </p:cNvSpPr>
          <p:nvPr>
            <p:ph type="subTitle" idx="3"/>
          </p:nvPr>
        </p:nvSpPr>
        <p:spPr>
          <a:xfrm>
            <a:off x="454400" y="931075"/>
            <a:ext cx="8210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sz="1400" b="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23"/>
          <p:cNvSpPr txBox="1">
            <a:spLocks noGrp="1"/>
          </p:cNvSpPr>
          <p:nvPr>
            <p:ph type="body" idx="4"/>
          </p:nvPr>
        </p:nvSpPr>
        <p:spPr>
          <a:xfrm>
            <a:off x="4783450" y="1391575"/>
            <a:ext cx="3881400" cy="31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85" name="Google Shape;185;p23"/>
          <p:cNvSpPr txBox="1">
            <a:spLocks noGrp="1"/>
          </p:cNvSpPr>
          <p:nvPr>
            <p:ph type="subTitle" idx="5"/>
          </p:nvPr>
        </p:nvSpPr>
        <p:spPr>
          <a:xfrm>
            <a:off x="8157375" y="4727675"/>
            <a:ext cx="5076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Content">
  <p:cSld name="Title and Content_1_2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>
            <a:spLocks noGrp="1"/>
          </p:cNvSpPr>
          <p:nvPr>
            <p:ph type="title"/>
          </p:nvPr>
        </p:nvSpPr>
        <p:spPr>
          <a:xfrm>
            <a:off x="454450" y="211900"/>
            <a:ext cx="59871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8"/>
          <p:cNvSpPr txBox="1">
            <a:spLocks noGrp="1"/>
          </p:cNvSpPr>
          <p:nvPr>
            <p:ph type="subTitle" idx="1"/>
          </p:nvPr>
        </p:nvSpPr>
        <p:spPr>
          <a:xfrm>
            <a:off x="454450" y="4727675"/>
            <a:ext cx="43290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" name="Google Shape;225;p28"/>
          <p:cNvSpPr txBox="1">
            <a:spLocks noGrp="1"/>
          </p:cNvSpPr>
          <p:nvPr>
            <p:ph type="body" idx="2"/>
          </p:nvPr>
        </p:nvSpPr>
        <p:spPr>
          <a:xfrm>
            <a:off x="454450" y="1391575"/>
            <a:ext cx="2541300" cy="31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26" name="Google Shape;226;p28"/>
          <p:cNvSpPr txBox="1">
            <a:spLocks noGrp="1"/>
          </p:cNvSpPr>
          <p:nvPr>
            <p:ph type="subTitle" idx="3"/>
          </p:nvPr>
        </p:nvSpPr>
        <p:spPr>
          <a:xfrm>
            <a:off x="454400" y="931075"/>
            <a:ext cx="8210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sz="1400" b="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" name="Google Shape;227;p28"/>
          <p:cNvSpPr txBox="1">
            <a:spLocks noGrp="1"/>
          </p:cNvSpPr>
          <p:nvPr>
            <p:ph type="body" idx="4"/>
          </p:nvPr>
        </p:nvSpPr>
        <p:spPr>
          <a:xfrm>
            <a:off x="3288943" y="1391575"/>
            <a:ext cx="2541300" cy="31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28" name="Google Shape;228;p28"/>
          <p:cNvSpPr txBox="1">
            <a:spLocks noGrp="1"/>
          </p:cNvSpPr>
          <p:nvPr>
            <p:ph type="body" idx="5"/>
          </p:nvPr>
        </p:nvSpPr>
        <p:spPr>
          <a:xfrm>
            <a:off x="6123415" y="1391575"/>
            <a:ext cx="2541300" cy="31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29" name="Google Shape;229;p28"/>
          <p:cNvSpPr txBox="1">
            <a:spLocks noGrp="1"/>
          </p:cNvSpPr>
          <p:nvPr>
            <p:ph type="subTitle" idx="6"/>
          </p:nvPr>
        </p:nvSpPr>
        <p:spPr>
          <a:xfrm>
            <a:off x="8157375" y="4727675"/>
            <a:ext cx="5076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 Right">
  <p:cSld name="Title and Content_1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/>
          <p:nvPr/>
        </p:nvSpPr>
        <p:spPr>
          <a:xfrm>
            <a:off x="4623725" y="1391575"/>
            <a:ext cx="4041000" cy="310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9"/>
          <p:cNvSpPr>
            <a:spLocks noGrp="1"/>
          </p:cNvSpPr>
          <p:nvPr>
            <p:ph type="pic" idx="2"/>
          </p:nvPr>
        </p:nvSpPr>
        <p:spPr>
          <a:xfrm>
            <a:off x="4754825" y="1504375"/>
            <a:ext cx="3778800" cy="22554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9"/>
          <p:cNvSpPr txBox="1">
            <a:spLocks noGrp="1"/>
          </p:cNvSpPr>
          <p:nvPr>
            <p:ph type="title"/>
          </p:nvPr>
        </p:nvSpPr>
        <p:spPr>
          <a:xfrm>
            <a:off x="454450" y="211900"/>
            <a:ext cx="59871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29"/>
          <p:cNvSpPr txBox="1">
            <a:spLocks noGrp="1"/>
          </p:cNvSpPr>
          <p:nvPr>
            <p:ph type="subTitle" idx="1"/>
          </p:nvPr>
        </p:nvSpPr>
        <p:spPr>
          <a:xfrm>
            <a:off x="454450" y="4727675"/>
            <a:ext cx="43290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" name="Google Shape;235;p29"/>
          <p:cNvSpPr txBox="1">
            <a:spLocks noGrp="1"/>
          </p:cNvSpPr>
          <p:nvPr>
            <p:ph type="body" idx="3"/>
          </p:nvPr>
        </p:nvSpPr>
        <p:spPr>
          <a:xfrm>
            <a:off x="454450" y="1391575"/>
            <a:ext cx="3881400" cy="31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36" name="Google Shape;236;p29"/>
          <p:cNvSpPr txBox="1">
            <a:spLocks noGrp="1"/>
          </p:cNvSpPr>
          <p:nvPr>
            <p:ph type="subTitle" idx="4"/>
          </p:nvPr>
        </p:nvSpPr>
        <p:spPr>
          <a:xfrm>
            <a:off x="454400" y="931075"/>
            <a:ext cx="8210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sz="1400" b="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" name="Google Shape;237;p29"/>
          <p:cNvSpPr txBox="1">
            <a:spLocks noGrp="1"/>
          </p:cNvSpPr>
          <p:nvPr>
            <p:ph type="body" idx="5"/>
          </p:nvPr>
        </p:nvSpPr>
        <p:spPr>
          <a:xfrm>
            <a:off x="4754825" y="3835000"/>
            <a:ext cx="3778800" cy="5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●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○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■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●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○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■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●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○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■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38" name="Google Shape;238;p29"/>
          <p:cNvSpPr txBox="1">
            <a:spLocks noGrp="1"/>
          </p:cNvSpPr>
          <p:nvPr>
            <p:ph type="subTitle" idx="6"/>
          </p:nvPr>
        </p:nvSpPr>
        <p:spPr>
          <a:xfrm>
            <a:off x="8157375" y="4727675"/>
            <a:ext cx="5076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4">
  <p:cSld name="Title Slide_1_1_1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0"/>
          <p:cNvPicPr preferRelativeResize="0"/>
          <p:nvPr/>
        </p:nvPicPr>
        <p:blipFill rotWithShape="1">
          <a:blip r:embed="rId2">
            <a:alphaModFix/>
          </a:blip>
          <a:srcRect l="20759" r="20764"/>
          <a:stretch/>
        </p:blipFill>
        <p:spPr>
          <a:xfrm>
            <a:off x="3796750" y="-1"/>
            <a:ext cx="53472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0"/>
          <p:cNvSpPr txBox="1">
            <a:spLocks noGrp="1"/>
          </p:cNvSpPr>
          <p:nvPr>
            <p:ph type="subTitle" idx="1"/>
          </p:nvPr>
        </p:nvSpPr>
        <p:spPr>
          <a:xfrm>
            <a:off x="314550" y="1115500"/>
            <a:ext cx="3349200" cy="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7C7C"/>
              </a:buClr>
              <a:buSzPts val="2400"/>
              <a:buFont typeface="Poppins"/>
              <a:buNone/>
              <a:defRPr sz="2400" b="1" i="0" u="none" strike="noStrike" cap="none">
                <a:solidFill>
                  <a:srgbClr val="467C7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7C7C"/>
              </a:buClr>
              <a:buSzPts val="2000"/>
              <a:buFont typeface="Poppins"/>
              <a:buNone/>
              <a:defRPr sz="2000" b="1" i="0" u="none" strike="noStrike" cap="none">
                <a:solidFill>
                  <a:srgbClr val="467C7C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7C7C"/>
              </a:buClr>
              <a:buSzPts val="2000"/>
              <a:buFont typeface="Poppins"/>
              <a:buNone/>
              <a:defRPr sz="2000" b="1" i="0" u="none" strike="noStrike" cap="none">
                <a:solidFill>
                  <a:srgbClr val="467C7C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7C7C"/>
              </a:buClr>
              <a:buSzPts val="2000"/>
              <a:buFont typeface="Poppins"/>
              <a:buNone/>
              <a:defRPr sz="2000" b="1" i="0" u="none" strike="noStrike" cap="none">
                <a:solidFill>
                  <a:srgbClr val="467C7C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7C7C"/>
              </a:buClr>
              <a:buSzPts val="2000"/>
              <a:buFont typeface="Poppins"/>
              <a:buNone/>
              <a:defRPr sz="2000" b="1" i="0" u="none" strike="noStrike" cap="none">
                <a:solidFill>
                  <a:srgbClr val="467C7C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7C7C"/>
              </a:buClr>
              <a:buSzPts val="2000"/>
              <a:buFont typeface="Poppins"/>
              <a:buNone/>
              <a:defRPr sz="2000" b="1" i="0" u="none" strike="noStrike" cap="none">
                <a:solidFill>
                  <a:srgbClr val="467C7C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7C7C"/>
              </a:buClr>
              <a:buSzPts val="2000"/>
              <a:buFont typeface="Poppins"/>
              <a:buNone/>
              <a:defRPr sz="2000" b="1" i="0" u="none" strike="noStrike" cap="none">
                <a:solidFill>
                  <a:srgbClr val="467C7C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7C7C"/>
              </a:buClr>
              <a:buSzPts val="2000"/>
              <a:buFont typeface="Poppins"/>
              <a:buNone/>
              <a:defRPr sz="2000" b="1" i="0" u="none" strike="noStrike" cap="none">
                <a:solidFill>
                  <a:srgbClr val="467C7C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7C7C"/>
              </a:buClr>
              <a:buSzPts val="2000"/>
              <a:buFont typeface="Poppins"/>
              <a:buNone/>
              <a:defRPr sz="2000" b="1" i="0" u="none" strike="noStrike" cap="none">
                <a:solidFill>
                  <a:srgbClr val="467C7C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" name="Google Shape;242;p30"/>
          <p:cNvSpPr txBox="1">
            <a:spLocks noGrp="1"/>
          </p:cNvSpPr>
          <p:nvPr>
            <p:ph type="subTitle" idx="2"/>
          </p:nvPr>
        </p:nvSpPr>
        <p:spPr>
          <a:xfrm>
            <a:off x="314550" y="2204850"/>
            <a:ext cx="33492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Medium"/>
              <a:buNone/>
              <a:defRPr sz="1200" b="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pic>
        <p:nvPicPr>
          <p:cNvPr id="243" name="Google Shape;243;p30"/>
          <p:cNvPicPr preferRelativeResize="0"/>
          <p:nvPr/>
        </p:nvPicPr>
        <p:blipFill rotWithShape="1">
          <a:blip r:embed="rId3">
            <a:alphaModFix/>
          </a:blip>
          <a:srcRect l="552" r="563" b="1999"/>
          <a:stretch/>
        </p:blipFill>
        <p:spPr>
          <a:xfrm>
            <a:off x="7387200" y="148400"/>
            <a:ext cx="1528199" cy="5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0"/>
          <p:cNvSpPr/>
          <p:nvPr/>
        </p:nvSpPr>
        <p:spPr>
          <a:xfrm>
            <a:off x="314550" y="4741050"/>
            <a:ext cx="30687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document has been reviewed and determined not to contain export controlled technical data </a:t>
            </a:r>
            <a:endParaRPr sz="800" b="0" i="0" u="none" strike="noStrike" cap="none">
              <a:solidFill>
                <a:srgbClr val="A5A5A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0"/>
          <p:cNvSpPr/>
          <p:nvPr/>
        </p:nvSpPr>
        <p:spPr>
          <a:xfrm>
            <a:off x="3796750" y="0"/>
            <a:ext cx="53472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6666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0"/>
          <p:cNvSpPr txBox="1">
            <a:spLocks noGrp="1"/>
          </p:cNvSpPr>
          <p:nvPr>
            <p:ph type="body" idx="3"/>
          </p:nvPr>
        </p:nvSpPr>
        <p:spPr>
          <a:xfrm>
            <a:off x="4473450" y="1213000"/>
            <a:ext cx="4041000" cy="3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832">
          <p15:clr>
            <a:srgbClr val="FBAE40"/>
          </p15:clr>
        </p15:guide>
        <p15:guide id="4" pos="2928">
          <p15:clr>
            <a:srgbClr val="FBAE40"/>
          </p15:clr>
        </p15:guide>
        <p15:guide id="5" pos="312">
          <p15:clr>
            <a:srgbClr val="FBAE40"/>
          </p15:clr>
        </p15:guide>
        <p15:guide id="6" pos="5616">
          <p15:clr>
            <a:srgbClr val="FBAE40"/>
          </p15:clr>
        </p15:guide>
        <p15:guide id="7" pos="2592">
          <p15:clr>
            <a:srgbClr val="FBAE40"/>
          </p15:clr>
        </p15:guide>
        <p15:guide id="8" orient="horz" pos="2160">
          <p15:clr>
            <a:srgbClr val="FBAE40"/>
          </p15:clr>
        </p15:guide>
        <p15:guide id="9" orient="horz" pos="558">
          <p15:clr>
            <a:srgbClr val="FBAE40"/>
          </p15:clr>
        </p15:guide>
        <p15:guide id="10" pos="144">
          <p15:clr>
            <a:srgbClr val="FBAE40"/>
          </p15:clr>
        </p15:guide>
        <p15:guide id="11" pos="54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Content with Images">
  <p:cSld name="Title and Content_1_2_1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>
            <a:spLocks noGrp="1"/>
          </p:cNvSpPr>
          <p:nvPr>
            <p:ph type="title"/>
          </p:nvPr>
        </p:nvSpPr>
        <p:spPr>
          <a:xfrm>
            <a:off x="454450" y="211900"/>
            <a:ext cx="59871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31"/>
          <p:cNvSpPr txBox="1">
            <a:spLocks noGrp="1"/>
          </p:cNvSpPr>
          <p:nvPr>
            <p:ph type="subTitle" idx="1"/>
          </p:nvPr>
        </p:nvSpPr>
        <p:spPr>
          <a:xfrm>
            <a:off x="454450" y="4727675"/>
            <a:ext cx="43290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31"/>
          <p:cNvSpPr txBox="1"/>
          <p:nvPr/>
        </p:nvSpPr>
        <p:spPr>
          <a:xfrm>
            <a:off x="6249625" y="3393200"/>
            <a:ext cx="541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31"/>
          <p:cNvSpPr txBox="1">
            <a:spLocks noGrp="1"/>
          </p:cNvSpPr>
          <p:nvPr>
            <p:ph type="subTitle" idx="2"/>
          </p:nvPr>
        </p:nvSpPr>
        <p:spPr>
          <a:xfrm>
            <a:off x="454400" y="931075"/>
            <a:ext cx="8210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sz="1400" b="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" name="Google Shape;252;p31"/>
          <p:cNvSpPr/>
          <p:nvPr/>
        </p:nvSpPr>
        <p:spPr>
          <a:xfrm>
            <a:off x="6123425" y="1391575"/>
            <a:ext cx="2541300" cy="189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1"/>
          <p:cNvSpPr>
            <a:spLocks noGrp="1"/>
          </p:cNvSpPr>
          <p:nvPr>
            <p:ph type="pic" idx="3"/>
          </p:nvPr>
        </p:nvSpPr>
        <p:spPr>
          <a:xfrm>
            <a:off x="6205871" y="1460632"/>
            <a:ext cx="2376300" cy="13809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31"/>
          <p:cNvSpPr txBox="1">
            <a:spLocks noGrp="1"/>
          </p:cNvSpPr>
          <p:nvPr>
            <p:ph type="body" idx="4"/>
          </p:nvPr>
        </p:nvSpPr>
        <p:spPr>
          <a:xfrm>
            <a:off x="6205871" y="2887452"/>
            <a:ext cx="2376300" cy="3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●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○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■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●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○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■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●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○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■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55" name="Google Shape;255;p31"/>
          <p:cNvSpPr/>
          <p:nvPr/>
        </p:nvSpPr>
        <p:spPr>
          <a:xfrm>
            <a:off x="454450" y="1391575"/>
            <a:ext cx="2541300" cy="189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1"/>
          <p:cNvSpPr>
            <a:spLocks noGrp="1"/>
          </p:cNvSpPr>
          <p:nvPr>
            <p:ph type="pic" idx="5"/>
          </p:nvPr>
        </p:nvSpPr>
        <p:spPr>
          <a:xfrm>
            <a:off x="536896" y="1460632"/>
            <a:ext cx="2376300" cy="1380900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31"/>
          <p:cNvSpPr txBox="1">
            <a:spLocks noGrp="1"/>
          </p:cNvSpPr>
          <p:nvPr>
            <p:ph type="body" idx="6"/>
          </p:nvPr>
        </p:nvSpPr>
        <p:spPr>
          <a:xfrm>
            <a:off x="536896" y="2887452"/>
            <a:ext cx="2376300" cy="3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●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○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■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●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○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■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●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○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■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58" name="Google Shape;258;p31"/>
          <p:cNvSpPr/>
          <p:nvPr/>
        </p:nvSpPr>
        <p:spPr>
          <a:xfrm>
            <a:off x="3288938" y="1391575"/>
            <a:ext cx="2541300" cy="189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1"/>
          <p:cNvSpPr>
            <a:spLocks noGrp="1"/>
          </p:cNvSpPr>
          <p:nvPr>
            <p:ph type="pic" idx="7"/>
          </p:nvPr>
        </p:nvSpPr>
        <p:spPr>
          <a:xfrm>
            <a:off x="3371384" y="1460632"/>
            <a:ext cx="2376300" cy="13809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1"/>
          <p:cNvSpPr txBox="1">
            <a:spLocks noGrp="1"/>
          </p:cNvSpPr>
          <p:nvPr>
            <p:ph type="body" idx="8"/>
          </p:nvPr>
        </p:nvSpPr>
        <p:spPr>
          <a:xfrm>
            <a:off x="3371384" y="2887452"/>
            <a:ext cx="2376300" cy="3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●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○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■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●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○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■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●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○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■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1" name="Google Shape;261;p31"/>
          <p:cNvSpPr txBox="1">
            <a:spLocks noGrp="1"/>
          </p:cNvSpPr>
          <p:nvPr>
            <p:ph type="subTitle" idx="9"/>
          </p:nvPr>
        </p:nvSpPr>
        <p:spPr>
          <a:xfrm>
            <a:off x="8157375" y="4727675"/>
            <a:ext cx="5076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" name="Google Shape;262;p31"/>
          <p:cNvSpPr txBox="1">
            <a:spLocks noGrp="1"/>
          </p:cNvSpPr>
          <p:nvPr>
            <p:ph type="body" idx="13"/>
          </p:nvPr>
        </p:nvSpPr>
        <p:spPr>
          <a:xfrm>
            <a:off x="454450" y="3346300"/>
            <a:ext cx="2541300" cy="11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3" name="Google Shape;263;p31"/>
          <p:cNvSpPr txBox="1">
            <a:spLocks noGrp="1"/>
          </p:cNvSpPr>
          <p:nvPr>
            <p:ph type="body" idx="14"/>
          </p:nvPr>
        </p:nvSpPr>
        <p:spPr>
          <a:xfrm>
            <a:off x="3288947" y="3346300"/>
            <a:ext cx="2541300" cy="11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4" name="Google Shape;264;p31"/>
          <p:cNvSpPr txBox="1">
            <a:spLocks noGrp="1"/>
          </p:cNvSpPr>
          <p:nvPr>
            <p:ph type="body" idx="15"/>
          </p:nvPr>
        </p:nvSpPr>
        <p:spPr>
          <a:xfrm>
            <a:off x="6123424" y="3346300"/>
            <a:ext cx="2541300" cy="11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5">
  <p:cSld name="Title Slide_1_1_1_1_1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32"/>
          <p:cNvPicPr preferRelativeResize="0"/>
          <p:nvPr/>
        </p:nvPicPr>
        <p:blipFill rotWithShape="1">
          <a:blip r:embed="rId2">
            <a:alphaModFix/>
          </a:blip>
          <a:srcRect l="28366" r="13157"/>
          <a:stretch/>
        </p:blipFill>
        <p:spPr>
          <a:xfrm>
            <a:off x="3796750" y="-1"/>
            <a:ext cx="53472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2"/>
          <p:cNvSpPr txBox="1">
            <a:spLocks noGrp="1"/>
          </p:cNvSpPr>
          <p:nvPr>
            <p:ph type="subTitle" idx="1"/>
          </p:nvPr>
        </p:nvSpPr>
        <p:spPr>
          <a:xfrm>
            <a:off x="314550" y="1115500"/>
            <a:ext cx="3349200" cy="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7C7C"/>
              </a:buClr>
              <a:buSzPts val="2400"/>
              <a:buFont typeface="Poppins"/>
              <a:buNone/>
              <a:defRPr sz="2400" b="1" i="0" u="none" strike="noStrike" cap="none">
                <a:solidFill>
                  <a:srgbClr val="467C7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7C7C"/>
              </a:buClr>
              <a:buSzPts val="2000"/>
              <a:buFont typeface="Poppins"/>
              <a:buNone/>
              <a:defRPr sz="2000" b="1" i="0" u="none" strike="noStrike" cap="none">
                <a:solidFill>
                  <a:srgbClr val="467C7C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7C7C"/>
              </a:buClr>
              <a:buSzPts val="2000"/>
              <a:buFont typeface="Poppins"/>
              <a:buNone/>
              <a:defRPr sz="2000" b="1" i="0" u="none" strike="noStrike" cap="none">
                <a:solidFill>
                  <a:srgbClr val="467C7C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7C7C"/>
              </a:buClr>
              <a:buSzPts val="2000"/>
              <a:buFont typeface="Poppins"/>
              <a:buNone/>
              <a:defRPr sz="2000" b="1" i="0" u="none" strike="noStrike" cap="none">
                <a:solidFill>
                  <a:srgbClr val="467C7C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7C7C"/>
              </a:buClr>
              <a:buSzPts val="2000"/>
              <a:buFont typeface="Poppins"/>
              <a:buNone/>
              <a:defRPr sz="2000" b="1" i="0" u="none" strike="noStrike" cap="none">
                <a:solidFill>
                  <a:srgbClr val="467C7C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7C7C"/>
              </a:buClr>
              <a:buSzPts val="2000"/>
              <a:buFont typeface="Poppins"/>
              <a:buNone/>
              <a:defRPr sz="2000" b="1" i="0" u="none" strike="noStrike" cap="none">
                <a:solidFill>
                  <a:srgbClr val="467C7C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7C7C"/>
              </a:buClr>
              <a:buSzPts val="2000"/>
              <a:buFont typeface="Poppins"/>
              <a:buNone/>
              <a:defRPr sz="2000" b="1" i="0" u="none" strike="noStrike" cap="none">
                <a:solidFill>
                  <a:srgbClr val="467C7C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7C7C"/>
              </a:buClr>
              <a:buSzPts val="2000"/>
              <a:buFont typeface="Poppins"/>
              <a:buNone/>
              <a:defRPr sz="2000" b="1" i="0" u="none" strike="noStrike" cap="none">
                <a:solidFill>
                  <a:srgbClr val="467C7C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7C7C"/>
              </a:buClr>
              <a:buSzPts val="2000"/>
              <a:buFont typeface="Poppins"/>
              <a:buNone/>
              <a:defRPr sz="2000" b="1" i="0" u="none" strike="noStrike" cap="none">
                <a:solidFill>
                  <a:srgbClr val="467C7C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8" name="Google Shape;268;p32"/>
          <p:cNvSpPr txBox="1">
            <a:spLocks noGrp="1"/>
          </p:cNvSpPr>
          <p:nvPr>
            <p:ph type="subTitle" idx="2"/>
          </p:nvPr>
        </p:nvSpPr>
        <p:spPr>
          <a:xfrm>
            <a:off x="314550" y="2204850"/>
            <a:ext cx="33492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oppins Medium"/>
              <a:buNone/>
              <a:defRPr sz="1200" b="0" i="0" u="none" strike="noStrike" cap="none">
                <a:solidFill>
                  <a:srgbClr val="66666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pic>
        <p:nvPicPr>
          <p:cNvPr id="269" name="Google Shape;269;p32"/>
          <p:cNvPicPr preferRelativeResize="0"/>
          <p:nvPr/>
        </p:nvPicPr>
        <p:blipFill rotWithShape="1">
          <a:blip r:embed="rId3">
            <a:alphaModFix/>
          </a:blip>
          <a:srcRect l="552" r="563" b="1999"/>
          <a:stretch/>
        </p:blipFill>
        <p:spPr>
          <a:xfrm>
            <a:off x="7387200" y="148400"/>
            <a:ext cx="1528199" cy="5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2"/>
          <p:cNvSpPr/>
          <p:nvPr/>
        </p:nvSpPr>
        <p:spPr>
          <a:xfrm>
            <a:off x="314550" y="4741050"/>
            <a:ext cx="30687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document has been reviewed and determined not to contain export controlled technical data </a:t>
            </a:r>
            <a:endParaRPr sz="800" b="0" i="0" u="none" strike="noStrike" cap="none">
              <a:solidFill>
                <a:srgbClr val="A5A5A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32"/>
          <p:cNvSpPr/>
          <p:nvPr/>
        </p:nvSpPr>
        <p:spPr>
          <a:xfrm>
            <a:off x="3796750" y="0"/>
            <a:ext cx="53472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6666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2"/>
          <p:cNvSpPr txBox="1">
            <a:spLocks noGrp="1"/>
          </p:cNvSpPr>
          <p:nvPr>
            <p:ph type="body" idx="3"/>
          </p:nvPr>
        </p:nvSpPr>
        <p:spPr>
          <a:xfrm>
            <a:off x="4473450" y="1213000"/>
            <a:ext cx="4041000" cy="3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832">
          <p15:clr>
            <a:srgbClr val="FBAE40"/>
          </p15:clr>
        </p15:guide>
        <p15:guide id="4" pos="2928">
          <p15:clr>
            <a:srgbClr val="FBAE40"/>
          </p15:clr>
        </p15:guide>
        <p15:guide id="5" pos="312">
          <p15:clr>
            <a:srgbClr val="FBAE40"/>
          </p15:clr>
        </p15:guide>
        <p15:guide id="6" pos="5616">
          <p15:clr>
            <a:srgbClr val="FBAE40"/>
          </p15:clr>
        </p15:guide>
        <p15:guide id="7" pos="2592">
          <p15:clr>
            <a:srgbClr val="FBAE40"/>
          </p15:clr>
        </p15:guide>
        <p15:guide id="8" orient="horz" pos="2160">
          <p15:clr>
            <a:srgbClr val="FBAE40"/>
          </p15:clr>
        </p15:guide>
        <p15:guide id="9" orient="horz" pos="558">
          <p15:clr>
            <a:srgbClr val="FBAE40"/>
          </p15:clr>
        </p15:guide>
        <p15:guide id="10" pos="144">
          <p15:clr>
            <a:srgbClr val="FBAE40"/>
          </p15:clr>
        </p15:guide>
        <p15:guide id="11" pos="54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_2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"/>
          <p:cNvSpPr txBox="1">
            <a:spLocks noGrp="1"/>
          </p:cNvSpPr>
          <p:nvPr>
            <p:ph type="title"/>
          </p:nvPr>
        </p:nvSpPr>
        <p:spPr>
          <a:xfrm>
            <a:off x="1379438" y="173832"/>
            <a:ext cx="59928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33"/>
          <p:cNvSpPr txBox="1">
            <a:spLocks noGrp="1"/>
          </p:cNvSpPr>
          <p:nvPr>
            <p:ph type="ftr" idx="11"/>
          </p:nvPr>
        </p:nvSpPr>
        <p:spPr>
          <a:xfrm>
            <a:off x="3028950" y="4821427"/>
            <a:ext cx="3086100" cy="1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6" name="Google Shape;276;p33"/>
          <p:cNvSpPr txBox="1">
            <a:spLocks noGrp="1"/>
          </p:cNvSpPr>
          <p:nvPr>
            <p:ph type="dt" idx="10"/>
          </p:nvPr>
        </p:nvSpPr>
        <p:spPr>
          <a:xfrm>
            <a:off x="152400" y="4821427"/>
            <a:ext cx="20574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_3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>
            <a:spLocks noGrp="1"/>
          </p:cNvSpPr>
          <p:nvPr>
            <p:ph type="title"/>
          </p:nvPr>
        </p:nvSpPr>
        <p:spPr>
          <a:xfrm>
            <a:off x="1379438" y="173832"/>
            <a:ext cx="59928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4"/>
          <p:cNvSpPr txBox="1">
            <a:spLocks noGrp="1"/>
          </p:cNvSpPr>
          <p:nvPr>
            <p:ph type="ftr" idx="11"/>
          </p:nvPr>
        </p:nvSpPr>
        <p:spPr>
          <a:xfrm>
            <a:off x="3028950" y="4821427"/>
            <a:ext cx="3086100" cy="1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34"/>
          <p:cNvSpPr txBox="1">
            <a:spLocks noGrp="1"/>
          </p:cNvSpPr>
          <p:nvPr>
            <p:ph type="dt" idx="10"/>
          </p:nvPr>
        </p:nvSpPr>
        <p:spPr>
          <a:xfrm>
            <a:off x="152400" y="4821427"/>
            <a:ext cx="20574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Title Cover no Author">
  <p:cSld name="Title Slide_2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5"/>
          <p:cNvPicPr preferRelativeResize="0"/>
          <p:nvPr/>
        </p:nvPicPr>
        <p:blipFill rotWithShape="1">
          <a:blip r:embed="rId2">
            <a:alphaModFix/>
          </a:blip>
          <a:srcRect b="19244"/>
          <a:stretch/>
        </p:blipFill>
        <p:spPr>
          <a:xfrm>
            <a:off x="0" y="0"/>
            <a:ext cx="9144003" cy="4153801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5"/>
          <p:cNvSpPr/>
          <p:nvPr/>
        </p:nvSpPr>
        <p:spPr>
          <a:xfrm>
            <a:off x="0" y="0"/>
            <a:ext cx="7327500" cy="41538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66666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5"/>
          <p:cNvSpPr/>
          <p:nvPr/>
        </p:nvSpPr>
        <p:spPr>
          <a:xfrm>
            <a:off x="0" y="2667788"/>
            <a:ext cx="8235900" cy="1102200"/>
          </a:xfrm>
          <a:prstGeom prst="rect">
            <a:avLst/>
          </a:prstGeom>
          <a:gradFill>
            <a:gsLst>
              <a:gs pos="0">
                <a:srgbClr val="ABD3C1">
                  <a:alpha val="24313"/>
                </a:srgbClr>
              </a:gs>
              <a:gs pos="100000">
                <a:srgbClr val="467C7C">
                  <a:alpha val="3098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5"/>
          <p:cNvSpPr txBox="1">
            <a:spLocks noGrp="1"/>
          </p:cNvSpPr>
          <p:nvPr>
            <p:ph type="title"/>
          </p:nvPr>
        </p:nvSpPr>
        <p:spPr>
          <a:xfrm>
            <a:off x="906325" y="885825"/>
            <a:ext cx="57057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  <a:defRPr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35"/>
          <p:cNvSpPr txBox="1">
            <a:spLocks noGrp="1"/>
          </p:cNvSpPr>
          <p:nvPr>
            <p:ph type="subTitle" idx="1"/>
          </p:nvPr>
        </p:nvSpPr>
        <p:spPr>
          <a:xfrm>
            <a:off x="908250" y="1341825"/>
            <a:ext cx="73275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287" name="Google Shape;287;p35"/>
          <p:cNvSpPr txBox="1">
            <a:spLocks noGrp="1"/>
          </p:cNvSpPr>
          <p:nvPr>
            <p:ph type="subTitle" idx="2"/>
          </p:nvPr>
        </p:nvSpPr>
        <p:spPr>
          <a:xfrm>
            <a:off x="908250" y="2823309"/>
            <a:ext cx="73275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  <a:defRPr sz="2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  <a:defRPr sz="2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  <a:defRPr sz="2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  <a:defRPr sz="2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  <a:defRPr sz="2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  <a:defRPr sz="2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  <a:defRPr sz="2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  <a:defRPr sz="2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  <a:defRPr sz="2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88" name="Google Shape;288;p35"/>
          <p:cNvSpPr txBox="1">
            <a:spLocks noGrp="1"/>
          </p:cNvSpPr>
          <p:nvPr>
            <p:ph type="subTitle" idx="3"/>
          </p:nvPr>
        </p:nvSpPr>
        <p:spPr>
          <a:xfrm>
            <a:off x="908250" y="3279316"/>
            <a:ext cx="73275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D3C1"/>
              </a:buClr>
              <a:buSzPts val="1200"/>
              <a:buFont typeface="Poppins"/>
              <a:buNone/>
              <a:defRPr sz="1200" b="1" i="0" u="none" strike="noStrike" cap="none">
                <a:solidFill>
                  <a:srgbClr val="ABD3C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4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pic>
        <p:nvPicPr>
          <p:cNvPr id="289" name="Google Shape;289;p35"/>
          <p:cNvPicPr preferRelativeResize="0"/>
          <p:nvPr/>
        </p:nvPicPr>
        <p:blipFill rotWithShape="1">
          <a:blip r:embed="rId3">
            <a:alphaModFix/>
          </a:blip>
          <a:srcRect l="552" r="563" b="1999"/>
          <a:stretch/>
        </p:blipFill>
        <p:spPr>
          <a:xfrm>
            <a:off x="7387200" y="148400"/>
            <a:ext cx="1528199" cy="5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5"/>
          <p:cNvSpPr/>
          <p:nvPr/>
        </p:nvSpPr>
        <p:spPr>
          <a:xfrm>
            <a:off x="0" y="4910192"/>
            <a:ext cx="91440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document has been reviewed and determined not to contain export controlled technical data </a:t>
            </a:r>
            <a:endParaRPr sz="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832">
          <p15:clr>
            <a:srgbClr val="FBAE40"/>
          </p15:clr>
        </p15:guide>
        <p15:guide id="4" pos="2928">
          <p15:clr>
            <a:srgbClr val="FBAE40"/>
          </p15:clr>
        </p15:guide>
        <p15:guide id="5" pos="312">
          <p15:clr>
            <a:srgbClr val="FBAE40"/>
          </p15:clr>
        </p15:guide>
        <p15:guide id="6" pos="5616">
          <p15:clr>
            <a:srgbClr val="FBAE40"/>
          </p15:clr>
        </p15:guide>
        <p15:guide id="7" pos="2592">
          <p15:clr>
            <a:srgbClr val="FBAE40"/>
          </p15:clr>
        </p15:guide>
        <p15:guide id="8" orient="horz" pos="2160">
          <p15:clr>
            <a:srgbClr val="FBAE40"/>
          </p15:clr>
        </p15:guide>
        <p15:guide id="9" orient="horz" pos="558">
          <p15:clr>
            <a:srgbClr val="FBAE40"/>
          </p15:clr>
        </p15:guide>
        <p15:guide id="10" pos="144">
          <p15:clr>
            <a:srgbClr val="FBAE40"/>
          </p15:clr>
        </p15:guide>
        <p15:guide id="11" pos="544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 Left">
  <p:cSld name="Title and Content_1_1_1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6"/>
          <p:cNvSpPr/>
          <p:nvPr/>
        </p:nvSpPr>
        <p:spPr>
          <a:xfrm>
            <a:off x="454450" y="1391575"/>
            <a:ext cx="4041000" cy="310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6"/>
          <p:cNvSpPr>
            <a:spLocks noGrp="1"/>
          </p:cNvSpPr>
          <p:nvPr>
            <p:ph type="pic" idx="2"/>
          </p:nvPr>
        </p:nvSpPr>
        <p:spPr>
          <a:xfrm>
            <a:off x="585550" y="1504375"/>
            <a:ext cx="3778800" cy="22554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36"/>
          <p:cNvSpPr txBox="1">
            <a:spLocks noGrp="1"/>
          </p:cNvSpPr>
          <p:nvPr>
            <p:ph type="title"/>
          </p:nvPr>
        </p:nvSpPr>
        <p:spPr>
          <a:xfrm>
            <a:off x="454450" y="211900"/>
            <a:ext cx="59871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6"/>
          <p:cNvSpPr txBox="1">
            <a:spLocks noGrp="1"/>
          </p:cNvSpPr>
          <p:nvPr>
            <p:ph type="subTitle" idx="1"/>
          </p:nvPr>
        </p:nvSpPr>
        <p:spPr>
          <a:xfrm>
            <a:off x="454450" y="4727675"/>
            <a:ext cx="43290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6" name="Google Shape;296;p36"/>
          <p:cNvSpPr txBox="1">
            <a:spLocks noGrp="1"/>
          </p:cNvSpPr>
          <p:nvPr>
            <p:ph type="body" idx="3"/>
          </p:nvPr>
        </p:nvSpPr>
        <p:spPr>
          <a:xfrm>
            <a:off x="4783450" y="1391575"/>
            <a:ext cx="3881400" cy="31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97" name="Google Shape;297;p36"/>
          <p:cNvSpPr txBox="1">
            <a:spLocks noGrp="1"/>
          </p:cNvSpPr>
          <p:nvPr>
            <p:ph type="subTitle" idx="4"/>
          </p:nvPr>
        </p:nvSpPr>
        <p:spPr>
          <a:xfrm>
            <a:off x="454400" y="931075"/>
            <a:ext cx="8210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sz="1400" b="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8" name="Google Shape;298;p36"/>
          <p:cNvSpPr txBox="1">
            <a:spLocks noGrp="1"/>
          </p:cNvSpPr>
          <p:nvPr>
            <p:ph type="body" idx="5"/>
          </p:nvPr>
        </p:nvSpPr>
        <p:spPr>
          <a:xfrm>
            <a:off x="585550" y="3835000"/>
            <a:ext cx="3778800" cy="5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●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○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■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●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○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■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●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○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Char char="■"/>
              <a:defRPr sz="10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99" name="Google Shape;299;p36"/>
          <p:cNvSpPr txBox="1">
            <a:spLocks noGrp="1"/>
          </p:cNvSpPr>
          <p:nvPr>
            <p:ph type="subTitle" idx="6"/>
          </p:nvPr>
        </p:nvSpPr>
        <p:spPr>
          <a:xfrm>
            <a:off x="8157375" y="4727675"/>
            <a:ext cx="5076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2">
  <p:cSld name="Title and Content_5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8"/>
          <p:cNvSpPr txBox="1">
            <a:spLocks noGrp="1"/>
          </p:cNvSpPr>
          <p:nvPr>
            <p:ph type="title"/>
          </p:nvPr>
        </p:nvSpPr>
        <p:spPr>
          <a:xfrm>
            <a:off x="1379438" y="173832"/>
            <a:ext cx="59928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38"/>
          <p:cNvSpPr txBox="1">
            <a:spLocks noGrp="1"/>
          </p:cNvSpPr>
          <p:nvPr>
            <p:ph type="ftr" idx="11"/>
          </p:nvPr>
        </p:nvSpPr>
        <p:spPr>
          <a:xfrm>
            <a:off x="3028950" y="4821427"/>
            <a:ext cx="30861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7" name="Google Shape;307;p38"/>
          <p:cNvSpPr txBox="1">
            <a:spLocks noGrp="1"/>
          </p:cNvSpPr>
          <p:nvPr>
            <p:ph type="dt" idx="10"/>
          </p:nvPr>
        </p:nvSpPr>
        <p:spPr>
          <a:xfrm>
            <a:off x="152400" y="4821427"/>
            <a:ext cx="20574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3">
  <p:cSld name="Title and Content_6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9"/>
          <p:cNvSpPr txBox="1">
            <a:spLocks noGrp="1"/>
          </p:cNvSpPr>
          <p:nvPr>
            <p:ph type="title"/>
          </p:nvPr>
        </p:nvSpPr>
        <p:spPr>
          <a:xfrm>
            <a:off x="1379438" y="173832"/>
            <a:ext cx="59928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39"/>
          <p:cNvSpPr txBox="1">
            <a:spLocks noGrp="1"/>
          </p:cNvSpPr>
          <p:nvPr>
            <p:ph type="ftr" idx="11"/>
          </p:nvPr>
        </p:nvSpPr>
        <p:spPr>
          <a:xfrm>
            <a:off x="3028950" y="4821427"/>
            <a:ext cx="30861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1" name="Google Shape;311;p39"/>
          <p:cNvSpPr txBox="1">
            <a:spLocks noGrp="1"/>
          </p:cNvSpPr>
          <p:nvPr>
            <p:ph type="dt" idx="10"/>
          </p:nvPr>
        </p:nvSpPr>
        <p:spPr>
          <a:xfrm>
            <a:off x="152400" y="4821427"/>
            <a:ext cx="20574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4">
  <p:cSld name="Title and Content_7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"/>
          <p:cNvSpPr txBox="1">
            <a:spLocks noGrp="1"/>
          </p:cNvSpPr>
          <p:nvPr>
            <p:ph type="title"/>
          </p:nvPr>
        </p:nvSpPr>
        <p:spPr>
          <a:xfrm>
            <a:off x="1379438" y="173832"/>
            <a:ext cx="59928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40"/>
          <p:cNvSpPr txBox="1">
            <a:spLocks noGrp="1"/>
          </p:cNvSpPr>
          <p:nvPr>
            <p:ph type="ftr" idx="11"/>
          </p:nvPr>
        </p:nvSpPr>
        <p:spPr>
          <a:xfrm>
            <a:off x="3028950" y="4821427"/>
            <a:ext cx="30861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5" name="Google Shape;315;p40"/>
          <p:cNvSpPr txBox="1">
            <a:spLocks noGrp="1"/>
          </p:cNvSpPr>
          <p:nvPr>
            <p:ph type="dt" idx="10"/>
          </p:nvPr>
        </p:nvSpPr>
        <p:spPr>
          <a:xfrm>
            <a:off x="152400" y="4821428"/>
            <a:ext cx="20574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1"/>
          <p:cNvSpPr txBox="1">
            <a:spLocks noGrp="1"/>
          </p:cNvSpPr>
          <p:nvPr>
            <p:ph type="title"/>
          </p:nvPr>
        </p:nvSpPr>
        <p:spPr>
          <a:xfrm>
            <a:off x="1379438" y="173832"/>
            <a:ext cx="59928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41"/>
          <p:cNvSpPr txBox="1">
            <a:spLocks noGrp="1"/>
          </p:cNvSpPr>
          <p:nvPr>
            <p:ph type="body" idx="1"/>
          </p:nvPr>
        </p:nvSpPr>
        <p:spPr>
          <a:xfrm>
            <a:off x="228600" y="793334"/>
            <a:ext cx="8686800" cy="3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9" name="Google Shape;319;p41"/>
          <p:cNvSpPr txBox="1">
            <a:spLocks noGrp="1"/>
          </p:cNvSpPr>
          <p:nvPr>
            <p:ph type="dt" idx="10"/>
          </p:nvPr>
        </p:nvSpPr>
        <p:spPr>
          <a:xfrm>
            <a:off x="152400" y="4822273"/>
            <a:ext cx="20574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0" name="Google Shape;320;p41"/>
          <p:cNvSpPr txBox="1">
            <a:spLocks noGrp="1"/>
          </p:cNvSpPr>
          <p:nvPr>
            <p:ph type="ftr" idx="11"/>
          </p:nvPr>
        </p:nvSpPr>
        <p:spPr>
          <a:xfrm>
            <a:off x="3028950" y="4822272"/>
            <a:ext cx="30861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4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>
            <a:spLocks noGrp="1"/>
          </p:cNvSpPr>
          <p:nvPr>
            <p:ph type="title"/>
          </p:nvPr>
        </p:nvSpPr>
        <p:spPr>
          <a:xfrm>
            <a:off x="454450" y="211900"/>
            <a:ext cx="59871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None/>
              <a:defRPr sz="2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65" name="Google Shape;165;p21"/>
          <p:cNvCxnSpPr/>
          <p:nvPr/>
        </p:nvCxnSpPr>
        <p:spPr>
          <a:xfrm>
            <a:off x="454450" y="4733275"/>
            <a:ext cx="8226300" cy="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7" name="Google Shape;167;p21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160050" y="148400"/>
            <a:ext cx="1528199" cy="535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21"/>
          <p:cNvCxnSpPr/>
          <p:nvPr/>
        </p:nvCxnSpPr>
        <p:spPr>
          <a:xfrm>
            <a:off x="454450" y="749925"/>
            <a:ext cx="8226300" cy="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21"/>
          <p:cNvSpPr txBox="1"/>
          <p:nvPr/>
        </p:nvSpPr>
        <p:spPr>
          <a:xfrm>
            <a:off x="2985650" y="3229450"/>
            <a:ext cx="467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3" r:id="rId11"/>
    <p:sldLayoutId id="2147483684" r:id="rId12"/>
    <p:sldLayoutId id="2147483685" r:id="rId13"/>
    <p:sldLayoutId id="2147483686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shub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eolibre.app/" TargetMode="External"/><Relationship Id="rId7" Type="http://schemas.openxmlformats.org/officeDocument/2006/relationships/image" Target="../media/image8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https://github.com/opengeos/GeoLibre" TargetMode="External"/><Relationship Id="rId4" Type="http://schemas.openxmlformats.org/officeDocument/2006/relationships/hyperlink" Target="https://web.geolibre.app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hare.geolibre.app/giswqs/nyc-buildings-and-subway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ra-plugin.geolibre.app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/>
        </p:nvSpPr>
        <p:spPr>
          <a:xfrm>
            <a:off x="1275000" y="1571860"/>
            <a:ext cx="6594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AI-Assisted Disaster Mapping with NASA OPERA Data in </a:t>
            </a:r>
            <a:r>
              <a:rPr lang="en-US" sz="28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GeoLibre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470287-1A0F-454D-975C-479D434A5D34}"/>
              </a:ext>
            </a:extLst>
          </p:cNvPr>
          <p:cNvSpPr txBox="1"/>
          <p:nvPr/>
        </p:nvSpPr>
        <p:spPr>
          <a:xfrm>
            <a:off x="3110702" y="3024052"/>
            <a:ext cx="29225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Qiusheng Wu</a:t>
            </a:r>
          </a:p>
          <a:p>
            <a:pPr algn="ctr"/>
            <a:r>
              <a:rPr lang="en-US" dirty="0"/>
              <a:t>University of Tennessee, Knoxville</a:t>
            </a:r>
          </a:p>
          <a:p>
            <a:pPr algn="ctr"/>
            <a:r>
              <a:rPr lang="en-US" dirty="0">
                <a:hlinkClick r:id="rId3"/>
              </a:rPr>
              <a:t>https://gishub.org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7C7EA4-B061-4C68-8443-3D46FFBC5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144" y="2985477"/>
            <a:ext cx="1605711" cy="16057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/>
        </p:nvSpPr>
        <p:spPr>
          <a:xfrm>
            <a:off x="463639" y="209641"/>
            <a:ext cx="659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GeoLibre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/>
        </p:nvSpPr>
        <p:spPr>
          <a:xfrm>
            <a:off x="463639" y="837175"/>
            <a:ext cx="369035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free and open-source, lightweight,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cloud-native GIS platform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visualizing, exploring, and analyzing geospatial data.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GeoLibre</a:t>
            </a: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runs everywhere you do, in the web browser, on the desktop, on mobile, and inside Jupyter notebooks, all while keeping your data local and private.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Website: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https://geolibre.app</a:t>
            </a: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/>
              <a:t>Web App</a:t>
            </a:r>
            <a:r>
              <a:rPr lang="en-US" altLang="zh-CN" dirty="0"/>
              <a:t>: </a:t>
            </a:r>
            <a:r>
              <a:rPr lang="en-US" altLang="zh-CN" dirty="0">
                <a:hlinkClick r:id="rId4"/>
              </a:rPr>
              <a:t>https://web.geolibre.app</a:t>
            </a:r>
            <a:r>
              <a:rPr lang="en-US" altLang="zh-CN" dirty="0"/>
              <a:t> </a:t>
            </a: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/>
              <a:t>GitHub: </a:t>
            </a:r>
            <a:r>
              <a:rPr lang="en-US" dirty="0">
                <a:hlinkClick r:id="rId5"/>
              </a:rPr>
              <a:t>https://github.com/opengeos/GeoLibre</a:t>
            </a:r>
            <a:r>
              <a:rPr lang="en-US" dirty="0"/>
              <a:t> </a:t>
            </a: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AutoShape 2" descr="GeoLibre map interface showing the GIS workspace">
            <a:extLst>
              <a:ext uri="{FF2B5EF4-FFF2-40B4-BE49-F238E27FC236}">
                <a16:creationId xmlns:a16="http://schemas.microsoft.com/office/drawing/2014/main" id="{4CAC5482-944E-4D0B-A22B-331D575463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28309" y="185111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GeoLibre map interface showing the GIS workspace">
            <a:extLst>
              <a:ext uri="{FF2B5EF4-FFF2-40B4-BE49-F238E27FC236}">
                <a16:creationId xmlns:a16="http://schemas.microsoft.com/office/drawing/2014/main" id="{063F3B8F-7747-48CF-923A-C09A484956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CDD51D-2BBA-4E93-897E-7465293204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3989" y="769621"/>
            <a:ext cx="4526372" cy="25460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C59653-6315-46B6-8105-DBC203CE16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849" y="3484722"/>
            <a:ext cx="8236302" cy="163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598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/>
        </p:nvSpPr>
        <p:spPr>
          <a:xfrm>
            <a:off x="463639" y="209641"/>
            <a:ext cx="659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Geospatial Data Visualization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/>
        </p:nvSpPr>
        <p:spPr>
          <a:xfrm>
            <a:off x="463640" y="837175"/>
            <a:ext cx="1286784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Supported formats: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 err="1"/>
              <a:t>GeoJSON</a:t>
            </a:r>
            <a:endParaRPr lang="en-US"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Shapefile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GPKG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dirty="0" err="1"/>
              <a:t>eoParquet</a:t>
            </a:r>
            <a:endParaRPr lang="en-US"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 err="1"/>
              <a:t>FlatGeobuf</a:t>
            </a:r>
            <a:endParaRPr lang="en-US"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COG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 err="1"/>
              <a:t>PMTiles</a:t>
            </a:r>
            <a:endParaRPr lang="en-US"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COPC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3D Tiles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 err="1"/>
              <a:t>Zarr</a:t>
            </a:r>
            <a:endParaRPr lang="en-US"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 err="1"/>
              <a:t>NetCDF</a:t>
            </a:r>
            <a:endParaRPr lang="en-US"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XYZ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WMS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WFS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dirty="0"/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dirty="0"/>
          </a:p>
        </p:txBody>
      </p:sp>
      <p:sp>
        <p:nvSpPr>
          <p:cNvPr id="2" name="AutoShape 2" descr="GeoLibre map interface showing the GIS workspace">
            <a:extLst>
              <a:ext uri="{FF2B5EF4-FFF2-40B4-BE49-F238E27FC236}">
                <a16:creationId xmlns:a16="http://schemas.microsoft.com/office/drawing/2014/main" id="{4CAC5482-944E-4D0B-A22B-331D575463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28309" y="185111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GeoLibre map interface showing the GIS workspace">
            <a:extLst>
              <a:ext uri="{FF2B5EF4-FFF2-40B4-BE49-F238E27FC236}">
                <a16:creationId xmlns:a16="http://schemas.microsoft.com/office/drawing/2014/main" id="{063F3B8F-7747-48CF-923A-C09A484956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hlinkClick r:id="rId3"/>
            <a:extLst>
              <a:ext uri="{FF2B5EF4-FFF2-40B4-BE49-F238E27FC236}">
                <a16:creationId xmlns:a16="http://schemas.microsoft.com/office/drawing/2014/main" id="{69FDD796-FB4E-4337-B701-1F172DE35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424" y="779962"/>
            <a:ext cx="6975658" cy="388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599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/>
        </p:nvSpPr>
        <p:spPr>
          <a:xfrm>
            <a:off x="463639" y="209641"/>
            <a:ext cx="659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Limited to Earth 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/>
        </p:nvSpPr>
        <p:spPr>
          <a:xfrm>
            <a:off x="438079" y="799906"/>
            <a:ext cx="1691731" cy="289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Planetary </a:t>
            </a:r>
            <a:r>
              <a:rPr lang="en-US" sz="1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basemaps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Earth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Moon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Mercury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Venus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Europa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Ganymede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Callisto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Titan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Pluto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Charon</a:t>
            </a:r>
            <a:endParaRPr lang="en-US" dirty="0"/>
          </a:p>
        </p:txBody>
      </p:sp>
      <p:sp>
        <p:nvSpPr>
          <p:cNvPr id="2" name="AutoShape 2" descr="GeoLibre map interface showing the GIS workspace">
            <a:extLst>
              <a:ext uri="{FF2B5EF4-FFF2-40B4-BE49-F238E27FC236}">
                <a16:creationId xmlns:a16="http://schemas.microsoft.com/office/drawing/2014/main" id="{4CAC5482-944E-4D0B-A22B-331D575463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28309" y="185111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GeoLibre map interface showing the GIS workspace">
            <a:extLst>
              <a:ext uri="{FF2B5EF4-FFF2-40B4-BE49-F238E27FC236}">
                <a16:creationId xmlns:a16="http://schemas.microsoft.com/office/drawing/2014/main" id="{063F3B8F-7747-48CF-923A-C09A484956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26F6FE-D16A-4372-8427-5D98549E9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810" y="799907"/>
            <a:ext cx="6550551" cy="348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08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/>
        </p:nvSpPr>
        <p:spPr>
          <a:xfrm>
            <a:off x="463639" y="209641"/>
            <a:ext cx="659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1,000+ Geoprocessing Tools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/>
        </p:nvSpPr>
        <p:spPr>
          <a:xfrm>
            <a:off x="438079" y="799906"/>
            <a:ext cx="1691731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Toolbox: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Vector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Raster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Conversion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Hydrology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LiDAR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Network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Projection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Remote Sensing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Terrain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dirty="0"/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n-US" b="1" dirty="0"/>
              <a:t>Model Builder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lang="en-US" dirty="0"/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n-US" b="1" dirty="0"/>
              <a:t>AI Assistant</a:t>
            </a:r>
          </a:p>
        </p:txBody>
      </p:sp>
      <p:sp>
        <p:nvSpPr>
          <p:cNvPr id="2" name="AutoShape 2" descr="GeoLibre map interface showing the GIS workspace">
            <a:extLst>
              <a:ext uri="{FF2B5EF4-FFF2-40B4-BE49-F238E27FC236}">
                <a16:creationId xmlns:a16="http://schemas.microsoft.com/office/drawing/2014/main" id="{4CAC5482-944E-4D0B-A22B-331D575463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28309" y="185111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GeoLibre map interface showing the GIS workspace">
            <a:extLst>
              <a:ext uri="{FF2B5EF4-FFF2-40B4-BE49-F238E27FC236}">
                <a16:creationId xmlns:a16="http://schemas.microsoft.com/office/drawing/2014/main" id="{063F3B8F-7747-48CF-923A-C09A484956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099D81-A162-48B9-AAD5-9C0DA1D63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430" y="767443"/>
            <a:ext cx="6405491" cy="360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009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/>
        </p:nvSpPr>
        <p:spPr>
          <a:xfrm>
            <a:off x="463639" y="209641"/>
            <a:ext cx="659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Explore OPERA Data in GeoLibre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/>
        </p:nvSpPr>
        <p:spPr>
          <a:xfrm>
            <a:off x="438079" y="799906"/>
            <a:ext cx="8197036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cloud-native GIS platform for visualizing, exploring, analyzing, and sharing OPERA data.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GeoLibre</a:t>
            </a:r>
            <a:r>
              <a:rPr lang="en-US" sz="14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-&gt;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Plugins -&gt; Web Services -&gt; Activate Plugin (NASA </a:t>
            </a:r>
            <a:r>
              <a:rPr lang="en-US" sz="1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Earthdata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1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Earthdata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GIS)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b="1" dirty="0"/>
          </a:p>
          <a:p>
            <a:pPr>
              <a:buSzPts val="1400"/>
            </a:pPr>
            <a:r>
              <a:rPr lang="en-US" sz="140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GeoLibre</a:t>
            </a:r>
            <a:r>
              <a:rPr lang="en-US" sz="14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-&gt;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Settings -&gt; Manage Plugins -&gt; Install NASA OPERA Plugin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AutoShape 2" descr="GeoLibre map interface showing the GIS workspace">
            <a:extLst>
              <a:ext uri="{FF2B5EF4-FFF2-40B4-BE49-F238E27FC236}">
                <a16:creationId xmlns:a16="http://schemas.microsoft.com/office/drawing/2014/main" id="{4CAC5482-944E-4D0B-A22B-331D575463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28309" y="185111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GeoLibre map interface showing the GIS workspace">
            <a:extLst>
              <a:ext uri="{FF2B5EF4-FFF2-40B4-BE49-F238E27FC236}">
                <a16:creationId xmlns:a16="http://schemas.microsoft.com/office/drawing/2014/main" id="{063F3B8F-7747-48CF-923A-C09A484956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7C8405BE-35CA-4663-8DC4-A15AC5813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802137"/>
              </p:ext>
            </p:extLst>
          </p:nvPr>
        </p:nvGraphicFramePr>
        <p:xfrm>
          <a:off x="463639" y="2155916"/>
          <a:ext cx="8197036" cy="235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5608">
                  <a:extLst>
                    <a:ext uri="{9D8B030D-6E8A-4147-A177-3AD203B41FA5}">
                      <a16:colId xmlns:a16="http://schemas.microsoft.com/office/drawing/2014/main" val="1345772519"/>
                    </a:ext>
                  </a:extLst>
                </a:gridCol>
                <a:gridCol w="1962647">
                  <a:extLst>
                    <a:ext uri="{9D8B030D-6E8A-4147-A177-3AD203B41FA5}">
                      <a16:colId xmlns:a16="http://schemas.microsoft.com/office/drawing/2014/main" val="3076039193"/>
                    </a:ext>
                  </a:extLst>
                </a:gridCol>
                <a:gridCol w="2403566">
                  <a:extLst>
                    <a:ext uri="{9D8B030D-6E8A-4147-A177-3AD203B41FA5}">
                      <a16:colId xmlns:a16="http://schemas.microsoft.com/office/drawing/2014/main" val="1885052946"/>
                    </a:ext>
                  </a:extLst>
                </a:gridCol>
                <a:gridCol w="2165215">
                  <a:extLst>
                    <a:ext uri="{9D8B030D-6E8A-4147-A177-3AD203B41FA5}">
                      <a16:colId xmlns:a16="http://schemas.microsoft.com/office/drawing/2014/main" val="30742585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PLUGIN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GRANULARITY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 FOR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980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NASA </a:t>
                      </a:r>
                      <a:r>
                        <a:rPr lang="en-US" dirty="0" err="1"/>
                        <a:t>Earthdata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GIBS pre-rendered global imagery tiles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Daily global mosaic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fast look - context and backdrop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20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Earthdata</a:t>
                      </a:r>
                      <a:r>
                        <a:rPr lang="en-US" dirty="0"/>
                        <a:t> GIS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ArcGIS Image / Map / Feature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Curated service, incl. NASA Disasters event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Authoritative event layers - FEDS perimeters, burn severity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3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NASA OPERA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CMR granule search + </a:t>
                      </a:r>
                      <a:r>
                        <a:rPr lang="en-US" dirty="0" err="1"/>
                        <a:t>titiler-cmr</a:t>
                      </a:r>
                      <a:r>
                        <a:rPr lang="en-US" dirty="0"/>
                        <a:t> COG tiles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Individual granule, individual 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analysis itself - specific scenes, specific dates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58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764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/>
        </p:nvSpPr>
        <p:spPr>
          <a:xfrm>
            <a:off x="463639" y="209641"/>
            <a:ext cx="659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NASA Earthdata Plugin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/>
        </p:nvSpPr>
        <p:spPr>
          <a:xfrm>
            <a:off x="438079" y="799906"/>
            <a:ext cx="819703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NASA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GIBS</a:t>
            </a:r>
            <a:r>
              <a:rPr lang="en-US" sz="14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the Global Imagery Browse Services tile catalog, browsable from a map panel.</a:t>
            </a:r>
            <a:endParaRPr lang="en-US" dirty="0"/>
          </a:p>
        </p:txBody>
      </p:sp>
      <p:sp>
        <p:nvSpPr>
          <p:cNvPr id="2" name="AutoShape 2" descr="GeoLibre map interface showing the GIS workspace">
            <a:extLst>
              <a:ext uri="{FF2B5EF4-FFF2-40B4-BE49-F238E27FC236}">
                <a16:creationId xmlns:a16="http://schemas.microsoft.com/office/drawing/2014/main" id="{4CAC5482-944E-4D0B-A22B-331D575463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28309" y="185111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GeoLibre map interface showing the GIS workspace">
            <a:extLst>
              <a:ext uri="{FF2B5EF4-FFF2-40B4-BE49-F238E27FC236}">
                <a16:creationId xmlns:a16="http://schemas.microsoft.com/office/drawing/2014/main" id="{063F3B8F-7747-48CF-923A-C09A484956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30E157-63A3-4C1B-A737-A318E1E43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406" y="1250880"/>
            <a:ext cx="6485709" cy="3251339"/>
          </a:xfrm>
          <a:prstGeom prst="rect">
            <a:avLst/>
          </a:prstGeom>
        </p:spPr>
      </p:pic>
      <p:sp>
        <p:nvSpPr>
          <p:cNvPr id="11" name="Google Shape;327;p42">
            <a:extLst>
              <a:ext uri="{FF2B5EF4-FFF2-40B4-BE49-F238E27FC236}">
                <a16:creationId xmlns:a16="http://schemas.microsoft.com/office/drawing/2014/main" id="{D2B7A666-D652-4DCA-84E5-6882546BBAF7}"/>
              </a:ext>
            </a:extLst>
          </p:cNvPr>
          <p:cNvSpPr txBox="1"/>
          <p:nvPr/>
        </p:nvSpPr>
        <p:spPr>
          <a:xfrm>
            <a:off x="438079" y="1139191"/>
            <a:ext cx="1632384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Strength: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/>
              <a:t>Instant. No search, no granule, no auth - a global backdrop in one click, ideal for situational context around an event.</a:t>
            </a:r>
          </a:p>
        </p:txBody>
      </p:sp>
      <p:sp>
        <p:nvSpPr>
          <p:cNvPr id="12" name="Google Shape;327;p42">
            <a:extLst>
              <a:ext uri="{FF2B5EF4-FFF2-40B4-BE49-F238E27FC236}">
                <a16:creationId xmlns:a16="http://schemas.microsoft.com/office/drawing/2014/main" id="{05F3EBB6-80D4-461F-B87F-FBCF98DE299B}"/>
              </a:ext>
            </a:extLst>
          </p:cNvPr>
          <p:cNvSpPr txBox="1"/>
          <p:nvPr/>
        </p:nvSpPr>
        <p:spPr>
          <a:xfrm>
            <a:off x="463639" y="2771138"/>
            <a:ext cx="1632384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/>
              <a:t>Pre-rendered pixels. You cannot </a:t>
            </a:r>
            <a:r>
              <a:rPr lang="en-US" dirty="0" err="1"/>
              <a:t>restretch</a:t>
            </a:r>
            <a:r>
              <a:rPr lang="en-US" dirty="0"/>
              <a:t> a band, query a value, or run statistics - it is a picture, not a measurement.</a:t>
            </a:r>
          </a:p>
        </p:txBody>
      </p:sp>
    </p:spTree>
    <p:extLst>
      <p:ext uri="{BB962C8B-B14F-4D97-AF65-F5344CB8AC3E}">
        <p14:creationId xmlns:p14="http://schemas.microsoft.com/office/powerpoint/2010/main" val="857091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/>
        </p:nvSpPr>
        <p:spPr>
          <a:xfrm>
            <a:off x="463639" y="209641"/>
            <a:ext cx="659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Earthdata GIS Plugin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/>
        </p:nvSpPr>
        <p:spPr>
          <a:xfrm>
            <a:off x="438079" y="799906"/>
            <a:ext cx="819703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Search gis.earthdata.nasa.gov and add EOSDIS ArcGIS services straight to the map.</a:t>
            </a:r>
            <a:endParaRPr lang="en-US" dirty="0"/>
          </a:p>
        </p:txBody>
      </p:sp>
      <p:sp>
        <p:nvSpPr>
          <p:cNvPr id="2" name="AutoShape 2" descr="GeoLibre map interface showing the GIS workspace">
            <a:extLst>
              <a:ext uri="{FF2B5EF4-FFF2-40B4-BE49-F238E27FC236}">
                <a16:creationId xmlns:a16="http://schemas.microsoft.com/office/drawing/2014/main" id="{4CAC5482-944E-4D0B-A22B-331D575463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28309" y="185111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GeoLibre map interface showing the GIS workspace">
            <a:extLst>
              <a:ext uri="{FF2B5EF4-FFF2-40B4-BE49-F238E27FC236}">
                <a16:creationId xmlns:a16="http://schemas.microsoft.com/office/drawing/2014/main" id="{063F3B8F-7747-48CF-923A-C09A484956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Google Shape;327;p42">
            <a:extLst>
              <a:ext uri="{FF2B5EF4-FFF2-40B4-BE49-F238E27FC236}">
                <a16:creationId xmlns:a16="http://schemas.microsoft.com/office/drawing/2014/main" id="{D2B7A666-D652-4DCA-84E5-6882546BBAF7}"/>
              </a:ext>
            </a:extLst>
          </p:cNvPr>
          <p:cNvSpPr txBox="1"/>
          <p:nvPr/>
        </p:nvSpPr>
        <p:spPr>
          <a:xfrm>
            <a:off x="438079" y="1139191"/>
            <a:ext cx="1657944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Strength: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/>
              <a:t>Curated event-based data layers: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Inundation extent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Burn severity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FEDS fire perimeter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</a:p>
        </p:txBody>
      </p:sp>
      <p:sp>
        <p:nvSpPr>
          <p:cNvPr id="12" name="Google Shape;327;p42">
            <a:extLst>
              <a:ext uri="{FF2B5EF4-FFF2-40B4-BE49-F238E27FC236}">
                <a16:creationId xmlns:a16="http://schemas.microsoft.com/office/drawing/2014/main" id="{05F3EBB6-80D4-461F-B87F-FBCF98DE299B}"/>
              </a:ext>
            </a:extLst>
          </p:cNvPr>
          <p:cNvSpPr txBox="1"/>
          <p:nvPr/>
        </p:nvSpPr>
        <p:spPr>
          <a:xfrm>
            <a:off x="463639" y="2986581"/>
            <a:ext cx="1632384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/>
              <a:t>Some imagery layers are only available as WMS, not COG.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7CA19E-72B3-4C78-81A8-E097CB35C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784" y="1226986"/>
            <a:ext cx="6555137" cy="328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359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/>
        </p:nvSpPr>
        <p:spPr>
          <a:xfrm>
            <a:off x="463639" y="209641"/>
            <a:ext cx="659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NASA OPERA Plugin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/>
        </p:nvSpPr>
        <p:spPr>
          <a:xfrm>
            <a:off x="438079" y="799906"/>
            <a:ext cx="819703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Granule-level search and display for eight OPERA collections.</a:t>
            </a:r>
            <a:endParaRPr lang="en-US" dirty="0"/>
          </a:p>
        </p:txBody>
      </p:sp>
      <p:sp>
        <p:nvSpPr>
          <p:cNvPr id="2" name="AutoShape 2" descr="GeoLibre map interface showing the GIS workspace">
            <a:extLst>
              <a:ext uri="{FF2B5EF4-FFF2-40B4-BE49-F238E27FC236}">
                <a16:creationId xmlns:a16="http://schemas.microsoft.com/office/drawing/2014/main" id="{4CAC5482-944E-4D0B-A22B-331D575463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28309" y="185111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GeoLibre map interface showing the GIS workspace">
            <a:extLst>
              <a:ext uri="{FF2B5EF4-FFF2-40B4-BE49-F238E27FC236}">
                <a16:creationId xmlns:a16="http://schemas.microsoft.com/office/drawing/2014/main" id="{063F3B8F-7747-48CF-923A-C09A484956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Google Shape;327;p42">
            <a:extLst>
              <a:ext uri="{FF2B5EF4-FFF2-40B4-BE49-F238E27FC236}">
                <a16:creationId xmlns:a16="http://schemas.microsoft.com/office/drawing/2014/main" id="{D2B7A666-D652-4DCA-84E5-6882546BBAF7}"/>
              </a:ext>
            </a:extLst>
          </p:cNvPr>
          <p:cNvSpPr txBox="1"/>
          <p:nvPr/>
        </p:nvSpPr>
        <p:spPr>
          <a:xfrm>
            <a:off x="438079" y="1139191"/>
            <a:ext cx="1657944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Functionalities: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Search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Display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Rescale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Colormap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Statistics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Download</a:t>
            </a:r>
            <a:endParaRPr lang="en-US" sz="14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0EF5AC-ADA5-4981-A612-8C288C3BF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024" y="1139191"/>
            <a:ext cx="6609898" cy="331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23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/>
        </p:nvSpPr>
        <p:spPr>
          <a:xfrm>
            <a:off x="463639" y="209641"/>
            <a:ext cx="659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 GeoAgent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/>
        </p:nvSpPr>
        <p:spPr>
          <a:xfrm>
            <a:off x="438079" y="799906"/>
            <a:ext cx="819703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chat control on the map that can inspect and operate the live map. </a:t>
            </a:r>
            <a:endParaRPr lang="en-US" dirty="0"/>
          </a:p>
        </p:txBody>
      </p:sp>
      <p:sp>
        <p:nvSpPr>
          <p:cNvPr id="2" name="AutoShape 2" descr="GeoLibre map interface showing the GIS workspace">
            <a:extLst>
              <a:ext uri="{FF2B5EF4-FFF2-40B4-BE49-F238E27FC236}">
                <a16:creationId xmlns:a16="http://schemas.microsoft.com/office/drawing/2014/main" id="{4CAC5482-944E-4D0B-A22B-331D575463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28309" y="185111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GeoLibre map interface showing the GIS workspace">
            <a:extLst>
              <a:ext uri="{FF2B5EF4-FFF2-40B4-BE49-F238E27FC236}">
                <a16:creationId xmlns:a16="http://schemas.microsoft.com/office/drawing/2014/main" id="{063F3B8F-7747-48CF-923A-C09A484956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Google Shape;327;p42">
            <a:extLst>
              <a:ext uri="{FF2B5EF4-FFF2-40B4-BE49-F238E27FC236}">
                <a16:creationId xmlns:a16="http://schemas.microsoft.com/office/drawing/2014/main" id="{D2B7A666-D652-4DCA-84E5-6882546BBAF7}"/>
              </a:ext>
            </a:extLst>
          </p:cNvPr>
          <p:cNvSpPr txBox="1"/>
          <p:nvPr/>
        </p:nvSpPr>
        <p:spPr>
          <a:xfrm>
            <a:off x="438079" y="1139191"/>
            <a:ext cx="1488692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 dirty="0"/>
              <a:t>Data Sources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Planetary Computer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NASA OPERA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sz="14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dirty="0"/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Providers: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Anthropic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</a:t>
            </a:r>
            <a:endParaRPr lang="en-US" sz="14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Gemini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Amazon Bedrock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 err="1"/>
              <a:t>Ollama</a:t>
            </a:r>
            <a:endParaRPr lang="en-US"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</a:t>
            </a:r>
            <a:r>
              <a:rPr lang="en-US" sz="14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-compatible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93C5D-DB97-459D-AB6B-2CE4A4BED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771" y="1177328"/>
            <a:ext cx="6779150" cy="339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059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/>
        </p:nvSpPr>
        <p:spPr>
          <a:xfrm>
            <a:off x="463639" y="209641"/>
            <a:ext cx="659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dirty="0"/>
              <a:t>Disaster Mapping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/>
        </p:nvSpPr>
        <p:spPr>
          <a:xfrm>
            <a:off x="438079" y="799906"/>
            <a:ext cx="819703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Disaster mapping using plain language. One sentence: A place, a hazard, and a time window.</a:t>
            </a:r>
            <a:endParaRPr lang="en-US" dirty="0"/>
          </a:p>
        </p:txBody>
      </p:sp>
      <p:sp>
        <p:nvSpPr>
          <p:cNvPr id="2" name="AutoShape 2" descr="GeoLibre map interface showing the GIS workspace">
            <a:extLst>
              <a:ext uri="{FF2B5EF4-FFF2-40B4-BE49-F238E27FC236}">
                <a16:creationId xmlns:a16="http://schemas.microsoft.com/office/drawing/2014/main" id="{4CAC5482-944E-4D0B-A22B-331D575463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28309" y="185111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GeoLibre map interface showing the GIS workspace">
            <a:extLst>
              <a:ext uri="{FF2B5EF4-FFF2-40B4-BE49-F238E27FC236}">
                <a16:creationId xmlns:a16="http://schemas.microsoft.com/office/drawing/2014/main" id="{063F3B8F-7747-48CF-923A-C09A484956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Google Shape;327;p42">
            <a:extLst>
              <a:ext uri="{FF2B5EF4-FFF2-40B4-BE49-F238E27FC236}">
                <a16:creationId xmlns:a16="http://schemas.microsoft.com/office/drawing/2014/main" id="{D2B7A666-D652-4DCA-84E5-6882546BBAF7}"/>
              </a:ext>
            </a:extLst>
          </p:cNvPr>
          <p:cNvSpPr txBox="1"/>
          <p:nvPr/>
        </p:nvSpPr>
        <p:spPr>
          <a:xfrm>
            <a:off x="438079" y="1139191"/>
            <a:ext cx="1481688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Map Colorado fire in July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8434FB-AD64-47E4-9C1B-61B428034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767" y="1174707"/>
            <a:ext cx="6786154" cy="338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39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/>
        </p:nvSpPr>
        <p:spPr>
          <a:xfrm>
            <a:off x="463639" y="209641"/>
            <a:ext cx="659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Self-contained HTML and PDF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AutoShape 2" descr="GeoLibre map interface showing the GIS workspace">
            <a:extLst>
              <a:ext uri="{FF2B5EF4-FFF2-40B4-BE49-F238E27FC236}">
                <a16:creationId xmlns:a16="http://schemas.microsoft.com/office/drawing/2014/main" id="{4CAC5482-944E-4D0B-A22B-331D575463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28309" y="185111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GeoLibre map interface showing the GIS workspace">
            <a:extLst>
              <a:ext uri="{FF2B5EF4-FFF2-40B4-BE49-F238E27FC236}">
                <a16:creationId xmlns:a16="http://schemas.microsoft.com/office/drawing/2014/main" id="{063F3B8F-7747-48CF-923A-C09A484956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Google Shape;327;p42">
            <a:extLst>
              <a:ext uri="{FF2B5EF4-FFF2-40B4-BE49-F238E27FC236}">
                <a16:creationId xmlns:a16="http://schemas.microsoft.com/office/drawing/2014/main" id="{D2B7A666-D652-4DCA-84E5-6882546BBAF7}"/>
              </a:ext>
            </a:extLst>
          </p:cNvPr>
          <p:cNvSpPr txBox="1"/>
          <p:nvPr/>
        </p:nvSpPr>
        <p:spPr>
          <a:xfrm>
            <a:off x="438078" y="1139191"/>
            <a:ext cx="2285527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 dirty="0"/>
              <a:t>Sections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Background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AOI </a:t>
            </a:r>
            <a:r>
              <a:rPr lang="en-US" dirty="0"/>
              <a:t>overview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Observed hazard extent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Impacts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Disclaimer</a:t>
            </a:r>
            <a:endParaRPr lang="en-US" sz="14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05075B-91CC-49A4-B10D-C0CCC0887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451" y="799906"/>
            <a:ext cx="5964087" cy="415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196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/>
        </p:nvSpPr>
        <p:spPr>
          <a:xfrm>
            <a:off x="1275000" y="1277852"/>
            <a:ext cx="6594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/>
              <a:t>Live Demo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470287-1A0F-454D-975C-479D434A5D34}"/>
              </a:ext>
            </a:extLst>
          </p:cNvPr>
          <p:cNvSpPr txBox="1"/>
          <p:nvPr/>
        </p:nvSpPr>
        <p:spPr>
          <a:xfrm>
            <a:off x="3172422" y="1770027"/>
            <a:ext cx="2799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https://opera-plugin.geolibre.app</a:t>
            </a: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84595C-6F7B-438B-B1DB-801B00FEC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690" y="2200285"/>
            <a:ext cx="2336619" cy="233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3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/>
        </p:nvSpPr>
        <p:spPr>
          <a:xfrm>
            <a:off x="1275000" y="2310160"/>
            <a:ext cx="6594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/>
              <a:t>Q&amp;A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559639"/>
      </p:ext>
    </p:extLst>
  </p:cSld>
  <p:clrMapOvr>
    <a:masterClrMapping/>
  </p:clrMapOvr>
</p:sld>
</file>

<file path=ppt/theme/theme1.xml><?xml version="1.0" encoding="utf-8"?>
<a:theme xmlns:a="http://schemas.openxmlformats.org/drawingml/2006/main" name="Opera External">
  <a:themeElements>
    <a:clrScheme name="Sentinel-6 160607 v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BCE7"/>
      </a:accent1>
      <a:accent2>
        <a:srgbClr val="153357"/>
      </a:accent2>
      <a:accent3>
        <a:srgbClr val="F8D74A"/>
      </a:accent3>
      <a:accent4>
        <a:srgbClr val="BC0000"/>
      </a:accent4>
      <a:accent5>
        <a:srgbClr val="DAE7F6"/>
      </a:accent5>
      <a:accent6>
        <a:srgbClr val="CCFFCC"/>
      </a:accent6>
      <a:hlink>
        <a:srgbClr val="21518B"/>
      </a:hlink>
      <a:folHlink>
        <a:srgbClr val="99BCE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522</Words>
  <Application>Microsoft Office PowerPoint</Application>
  <PresentationFormat>On-screen Show (16:9)</PresentationFormat>
  <Paragraphs>135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Poppins</vt:lpstr>
      <vt:lpstr>Arial</vt:lpstr>
      <vt:lpstr>Poppins Medium</vt:lpstr>
      <vt:lpstr>Roboto</vt:lpstr>
      <vt:lpstr>Opera External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Qiusheng Wu</dc:creator>
  <cp:lastModifiedBy>Wu, Qiusheng</cp:lastModifiedBy>
  <cp:revision>34</cp:revision>
  <dcterms:modified xsi:type="dcterms:W3CDTF">2026-09-10T05:04:38Z</dcterms:modified>
</cp:coreProperties>
</file>